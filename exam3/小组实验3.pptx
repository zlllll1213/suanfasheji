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966" r:id="rId4"/>
    <p:sldId id="968" r:id="rId6"/>
    <p:sldId id="9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594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77D49-0352-4CBB-AC3B-29E61C6D44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F2BAF-1314-4B8B-B883-E172360560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F2BAF-1314-4B8B-B883-E172360560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碳足迹值在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1~1000 kg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CO₂e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，依据：工业采购碳排放数据（如铝、锂、钴等原材料运输与加工碳强度）；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每家供应商提供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0~k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种类型：模拟现实中供应商专业化程度差异；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原材料类型总数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≤ 15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：便于用位掩码（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bitmask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）表示覆盖状态。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第一行包含两个整数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和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≤ k ≤ n ≤ 15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），分别表示供应商数量和所需原材料类型数量。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行，每行描述一家供应商：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每行第一个整数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≤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≤ 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）表示该供应商可提供的原材料类型数量；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个互不相同的整数（范围为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k−1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），表示该供应商可提供的原材料类型编号；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最后一个整数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≤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≤ 1000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）表示该供应商的单位碳足迹。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F2BAF-1314-4B8B-B883-E172360560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01485"/>
            <a:ext cx="9144000" cy="1431861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357257"/>
            <a:ext cx="9144000" cy="82788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4185138"/>
            <a:ext cx="12192000" cy="2672862"/>
            <a:chOff x="952500" y="457200"/>
            <a:chExt cx="10287000" cy="5943600"/>
          </a:xfrm>
        </p:grpSpPr>
        <p:pic>
          <p:nvPicPr>
            <p:cNvPr id="1026" name="Picture 2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0" y="457200"/>
              <a:ext cx="10287000" cy="59436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98305" y="1516063"/>
              <a:ext cx="1695450" cy="94297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677" y="1604124"/>
            <a:ext cx="10515600" cy="4351338"/>
          </a:xfr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  <a:defRPr sz="24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85800" indent="-228600">
              <a:lnSpc>
                <a:spcPct val="150000"/>
              </a:lnSpc>
              <a:buSzPct val="60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sz="1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流程图: 过程 6"/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流程图: 过程 6"/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25276" y="401653"/>
            <a:ext cx="680774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9100" y="2083776"/>
            <a:ext cx="7124699" cy="399477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defRPr sz="28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sz="2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402623" cy="6858000"/>
          </a:xfrm>
          <a:prstGeom prst="rect">
            <a:avLst/>
          </a:prstGeom>
        </p:spPr>
      </p:pic>
      <p:sp>
        <p:nvSpPr>
          <p:cNvPr id="10" name="流程图: 过程 9"/>
          <p:cNvSpPr/>
          <p:nvPr userDrawn="1"/>
        </p:nvSpPr>
        <p:spPr>
          <a:xfrm>
            <a:off x="3968479" y="1828146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30" y="136525"/>
            <a:ext cx="680774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27216"/>
            <a:ext cx="10515600" cy="4351338"/>
          </a:xfrm>
        </p:spPr>
        <p:txBody>
          <a:bodyPr/>
          <a:lstStyle>
            <a:lvl1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defRPr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流程图: 过程 6"/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  <p:sp>
        <p:nvSpPr>
          <p:cNvPr id="5" name="流程图: 过程 4"/>
          <p:cNvSpPr/>
          <p:nvPr userDrawn="1"/>
        </p:nvSpPr>
        <p:spPr>
          <a:xfrm>
            <a:off x="0" y="1371599"/>
            <a:ext cx="7645940" cy="77821"/>
          </a:xfrm>
          <a:prstGeom prst="flowChartProcess">
            <a:avLst/>
          </a:prstGeom>
          <a:gradFill flip="none" rotWithShape="1">
            <a:gsLst>
              <a:gs pos="57000">
                <a:srgbClr val="0066FF"/>
              </a:gs>
              <a:gs pos="24000">
                <a:srgbClr val="2730E1"/>
              </a:gs>
              <a:gs pos="100000">
                <a:schemeClr val="accent4">
                  <a:lumMod val="75000"/>
                </a:schemeClr>
              </a:gs>
            </a:gsLst>
            <a:lin ang="0" scaled="0"/>
            <a:tileRect/>
          </a:gra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31094-D888-4EB5-A01D-8EC40ED8B9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71780-F23A-4362-931F-B2A885650E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926CA-4B1F-451B-AAA2-D63E747C62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B89A3-59DB-45CE-8159-ED7DFCD912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7530" y="136525"/>
            <a:ext cx="1153822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小组实验</a:t>
            </a:r>
            <a:r>
              <a:rPr lang="en-US" altLang="zh-CN" sz="3200" dirty="0"/>
              <a:t>3</a:t>
            </a:r>
            <a:r>
              <a:rPr lang="zh-CN" altLang="en-US" sz="3200" dirty="0"/>
              <a:t>：碳足迹最小的绿色供应链选择</a:t>
            </a:r>
            <a:endParaRPr lang="zh-CN" altLang="en-US" sz="32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5694" y="1572226"/>
            <a:ext cx="11928666" cy="5285774"/>
          </a:xfrm>
        </p:spPr>
        <p:txBody>
          <a:bodyPr>
            <a:normAutofit/>
          </a:bodyPr>
          <a:lstStyle/>
          <a:p>
            <a:r>
              <a:rPr lang="zh-CN" altLang="en-US" sz="2200" dirty="0"/>
              <a:t>某新能源汽车制造企业计划从多个原材料供应商中选择若干家，构建一条绿色供应链，以完成某关键零部件的采购。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该零部件需要 恰好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k 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种不同类型的原材料</a:t>
            </a:r>
            <a:r>
              <a:rPr lang="zh-CN" altLang="en-US" sz="2200" dirty="0"/>
              <a:t>（每种类型仅需一种），而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市场上共有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n 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家供应商</a:t>
            </a:r>
            <a:r>
              <a:rPr lang="zh-CN" altLang="en-US" sz="2200" dirty="0"/>
              <a:t>（编号为 </a:t>
            </a:r>
            <a:r>
              <a:rPr lang="en-US" altLang="zh-CN" sz="2200" dirty="0"/>
              <a:t>0 </a:t>
            </a:r>
            <a:r>
              <a:rPr lang="zh-CN" altLang="en-US" sz="2200" dirty="0"/>
              <a:t>到 </a:t>
            </a:r>
            <a:r>
              <a:rPr lang="en-US" altLang="zh-CN" sz="2200" dirty="0"/>
              <a:t>n−1</a:t>
            </a:r>
            <a:r>
              <a:rPr lang="zh-CN" altLang="en-US" sz="2200" dirty="0"/>
              <a:t>）。每家供应商可提供若干种原材料类型，并附带一个“单位碳足迹”数值（表示从该供应商采购任意一种其提供的原材料所产生的碳排放量，单位：</a:t>
            </a:r>
            <a:r>
              <a:rPr lang="en-US" altLang="zh-CN" sz="2200" dirty="0"/>
              <a:t>kg </a:t>
            </a:r>
            <a:r>
              <a:rPr lang="en-US" altLang="zh-CN" sz="2200" dirty="0" err="1"/>
              <a:t>CO₂e</a:t>
            </a:r>
            <a:r>
              <a:rPr lang="zh-CN" altLang="en-US" sz="2200" dirty="0"/>
              <a:t>）。企业希望选出 恰好 </a:t>
            </a:r>
            <a:r>
              <a:rPr lang="en-US" altLang="zh-CN" sz="2200" dirty="0"/>
              <a:t>k </a:t>
            </a:r>
            <a:r>
              <a:rPr lang="zh-CN" altLang="en-US" sz="2200" dirty="0"/>
              <a:t>家不同的供应商（每家最多被选一次），使得：</a:t>
            </a:r>
            <a:endParaRPr lang="zh-CN" altLang="en-US" sz="2200" dirty="0"/>
          </a:p>
          <a:p>
            <a:pPr marL="0" indent="457200">
              <a:buNone/>
            </a:pPr>
            <a:r>
              <a:rPr lang="en-US" altLang="zh-CN" sz="2200" dirty="0"/>
              <a:t>1. </a:t>
            </a:r>
            <a:r>
              <a:rPr lang="zh-CN" altLang="en-US" sz="2200" dirty="0"/>
              <a:t>所选供应商共同覆盖</a:t>
            </a:r>
            <a:r>
              <a:rPr lang="zh-CN" altLang="en-US" sz="2200" dirty="0">
                <a:solidFill>
                  <a:srgbClr val="FF0000"/>
                </a:solidFill>
              </a:rPr>
              <a:t>全部 </a:t>
            </a:r>
            <a:r>
              <a:rPr lang="en-US" altLang="zh-CN" sz="2200" dirty="0">
                <a:solidFill>
                  <a:srgbClr val="FF0000"/>
                </a:solidFill>
              </a:rPr>
              <a:t>k </a:t>
            </a:r>
            <a:r>
              <a:rPr lang="zh-CN" altLang="en-US" sz="2200" dirty="0">
                <a:solidFill>
                  <a:srgbClr val="FF0000"/>
                </a:solidFill>
              </a:rPr>
              <a:t>种原材料类型</a:t>
            </a:r>
            <a:r>
              <a:rPr lang="zh-CN" altLang="en-US" sz="2200" dirty="0"/>
              <a:t>（即每种类型至少有一家所选供应商能提供）；</a:t>
            </a:r>
            <a:endParaRPr lang="zh-CN" altLang="en-US" sz="2200" dirty="0"/>
          </a:p>
          <a:p>
            <a:pPr marL="0" indent="457200">
              <a:buNone/>
            </a:pPr>
            <a:r>
              <a:rPr lang="en-US" altLang="zh-CN" sz="2200" dirty="0"/>
              <a:t>2. </a:t>
            </a:r>
            <a:r>
              <a:rPr lang="zh-CN" altLang="en-US" sz="2200" dirty="0"/>
              <a:t>所选供应商的</a:t>
            </a:r>
            <a:r>
              <a:rPr lang="zh-CN" altLang="en-US" sz="2200" dirty="0">
                <a:solidFill>
                  <a:srgbClr val="FF0000"/>
                </a:solidFill>
              </a:rPr>
              <a:t>总碳足迹之和最小</a:t>
            </a:r>
            <a:r>
              <a:rPr lang="zh-CN" altLang="en-US" sz="2200" dirty="0"/>
              <a:t>（即所选 </a:t>
            </a:r>
            <a:r>
              <a:rPr lang="en-US" altLang="zh-CN" sz="2200" dirty="0"/>
              <a:t>k </a:t>
            </a:r>
            <a:r>
              <a:rPr lang="zh-CN" altLang="en-US" sz="2200" dirty="0"/>
              <a:t>家供应商各自的单位碳足迹相加最小）。</a:t>
            </a:r>
            <a:endParaRPr lang="zh-CN" altLang="en-US" sz="2200" dirty="0"/>
          </a:p>
          <a:p>
            <a:pPr marL="0" indent="0">
              <a:buNone/>
            </a:pPr>
            <a:r>
              <a:rPr lang="zh-CN" altLang="en-US" sz="2200" dirty="0">
                <a:solidFill>
                  <a:srgbClr val="FF0000"/>
                </a:solidFill>
              </a:rPr>
              <a:t>   要求：输出满足约束条件的最小碳足迹及供应商组合。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30" y="136525"/>
            <a:ext cx="1153822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小组实验</a:t>
            </a:r>
            <a:r>
              <a:rPr lang="en-US" altLang="zh-CN" sz="3200" dirty="0"/>
              <a:t>3</a:t>
            </a:r>
            <a:r>
              <a:rPr lang="zh-CN" altLang="en-US" sz="3200" dirty="0"/>
              <a:t>：碳足迹最小的绿色供应链选择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676" y="1604124"/>
            <a:ext cx="10874033" cy="1824876"/>
          </a:xfrm>
        </p:spPr>
        <p:txBody>
          <a:bodyPr>
            <a:normAutofit/>
          </a:bodyPr>
          <a:lstStyle/>
          <a:p>
            <a:r>
              <a:rPr lang="zh-CN" altLang="en-US" sz="2200" b="1" dirty="0"/>
              <a:t>已知数据：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N=15,K=12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，每行第一个整数表示该供应商可提供的原材料类型数量；接下来互不相同的整数（范围为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0 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到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k−1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），表示该供应商可提供的原材料类型编号；最后一个整数 </a:t>
            </a:r>
            <a:r>
              <a:rPr lang="en-US" altLang="zh-CN" sz="2200" dirty="0" err="1">
                <a:solidFill>
                  <a:schemeClr val="accent1">
                    <a:lumMod val="75000"/>
                  </a:schemeClr>
                </a:solidFill>
              </a:rPr>
              <a:t>f_i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1 ≤ </a:t>
            </a:r>
            <a:r>
              <a:rPr lang="en-US" altLang="zh-CN" sz="2200" dirty="0" err="1">
                <a:solidFill>
                  <a:schemeClr val="accent1">
                    <a:lumMod val="75000"/>
                  </a:schemeClr>
                </a:solidFill>
              </a:rPr>
              <a:t>f_i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</a:rPr>
              <a:t> ≤ 1000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）表示该供应商的单位碳足迹。</a:t>
            </a:r>
            <a:endParaRPr lang="zh-CN" altLang="en-US" sz="2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US" altLang="zh-CN" sz="2200" dirty="0"/>
          </a:p>
        </p:txBody>
      </p:sp>
      <p:sp>
        <p:nvSpPr>
          <p:cNvPr id="5" name="文本框 4"/>
          <p:cNvSpPr txBox="1"/>
          <p:nvPr/>
        </p:nvSpPr>
        <p:spPr>
          <a:xfrm>
            <a:off x="979646" y="3429000"/>
            <a:ext cx="6700837" cy="470789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3 0 4 7 68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3 1 6 9 85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2 1 5 72  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2 3 10 61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4 2 3 8 11 59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1 8 74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1 6 81    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2 5 11 69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2 9 10 63 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3 2 7 9 73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3 0 2 5 77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2 0 11 88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2 7 11 66                  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2 10 11 76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1 4 70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提交要求：</a:t>
            </a:r>
            <a:endParaRPr lang="en-US" altLang="zh-CN" dirty="0"/>
          </a:p>
          <a:p>
            <a:pPr>
              <a:buAutoNum type="arabicPeriod"/>
            </a:pPr>
            <a:r>
              <a:rPr lang="zh-CN" altLang="en-US" dirty="0"/>
              <a:t>实验报告：问题分析与建模、算法设计（</a:t>
            </a:r>
            <a:r>
              <a:rPr lang="en-US" altLang="zh-CN" dirty="0"/>
              <a:t>2</a:t>
            </a:r>
            <a:r>
              <a:rPr lang="zh-CN" altLang="en-US" dirty="0"/>
              <a:t>种以上的算法求解）、程序设计（</a:t>
            </a:r>
            <a:r>
              <a:rPr lang="en-US" altLang="zh-CN" dirty="0"/>
              <a:t> 2</a:t>
            </a:r>
            <a:r>
              <a:rPr lang="zh-CN" altLang="en-US" dirty="0"/>
              <a:t>种以上的算法代码）、算法（时空复杂度）分析及对比、实验结果及可视化、实验总结</a:t>
            </a:r>
            <a:endParaRPr lang="en-US" altLang="zh-CN" dirty="0"/>
          </a:p>
          <a:p>
            <a:pPr>
              <a:buAutoNum type="arabicPeriod"/>
            </a:pPr>
            <a:r>
              <a:rPr lang="zh-CN" altLang="en-US" dirty="0"/>
              <a:t>实验源码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177530" y="136525"/>
            <a:ext cx="11172460" cy="132556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小组实验</a:t>
            </a:r>
            <a:r>
              <a:rPr lang="en-US" altLang="zh-CN" sz="3200" dirty="0"/>
              <a:t>3</a:t>
            </a:r>
            <a:r>
              <a:rPr lang="zh-CN" altLang="en-US" sz="3200" dirty="0"/>
              <a:t>：碳足迹最小的绿色供应链选择</a:t>
            </a:r>
            <a:endParaRPr lang="zh-CN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宽屏</PresentationFormat>
  <Paragraphs>34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2" baseType="lpstr">
      <vt:lpstr>Arial</vt:lpstr>
      <vt:lpstr>宋体</vt:lpstr>
      <vt:lpstr>Wingdings</vt:lpstr>
      <vt:lpstr>黑体</vt:lpstr>
      <vt:lpstr>汉仪中黑KW</vt:lpstr>
      <vt:lpstr>汉仪书宋二KW</vt:lpstr>
      <vt:lpstr>等线</vt:lpstr>
      <vt:lpstr>汉仪中等线KW</vt:lpstr>
      <vt:lpstr>宋体-简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黑体</vt:lpstr>
      <vt:lpstr>Office 主题​​</vt:lpstr>
      <vt:lpstr>1_Office 主题​​</vt:lpstr>
      <vt:lpstr>小组实验3：碳足迹最小的绿色供应链选择</vt:lpstr>
      <vt:lpstr>小组实验3：碳足迹最小的绿色供应链选择</vt:lpstr>
      <vt:lpstr>小组实验3：碳足迹最小的绿色供应链选择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wynne zhang</dc:creator>
  <cp:lastModifiedBy>WPS_1747719755</cp:lastModifiedBy>
  <cp:revision>21</cp:revision>
  <dcterms:created xsi:type="dcterms:W3CDTF">2025-12-17T07:32:13Z</dcterms:created>
  <dcterms:modified xsi:type="dcterms:W3CDTF">2025-12-17T07:32:13Z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4614812D2A2E99237D5C42692C5A83C4_42</vt:lpwstr>
  </property>
</Properties>
</file>