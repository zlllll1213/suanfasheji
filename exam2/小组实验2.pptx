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966" r:id="rId4"/>
    <p:sldId id="968" r:id="rId6"/>
    <p:sldId id="967"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594" autoAdjust="0"/>
  </p:normalViewPr>
  <p:slideViewPr>
    <p:cSldViewPr snapToGrid="0">
      <p:cViewPr varScale="1">
        <p:scale>
          <a:sx n="67" d="100"/>
          <a:sy n="67" d="100"/>
        </p:scale>
        <p:origin x="126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77D49-0352-4CBB-AC3B-29E61C6D441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FF2BAF-1314-4B8B-B883-E172360560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4FF2BAF-1314-4B8B-B883-E172360560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异常类型多样化：</a:t>
            </a:r>
            <a:endParaRPr lang="zh-CN" altLang="zh-CN" sz="1200" kern="1200" dirty="0">
              <a:solidFill>
                <a:schemeClr val="tx1"/>
              </a:solidFill>
              <a:effectLst/>
              <a:latin typeface="+mn-lt"/>
              <a:ea typeface="+mn-ea"/>
              <a:cs typeface="+mn-cs"/>
            </a:endParaRPr>
          </a:p>
          <a:p>
            <a:pPr lvl="1"/>
            <a:r>
              <a:rPr lang="zh-CN" altLang="zh-CN" sz="1200" b="1" kern="1200" dirty="0">
                <a:solidFill>
                  <a:schemeClr val="tx1"/>
                </a:solidFill>
                <a:effectLst/>
                <a:latin typeface="+mn-lt"/>
                <a:ea typeface="+mn-ea"/>
                <a:cs typeface="+mn-cs"/>
              </a:rPr>
              <a:t>极端值</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5% </a:t>
            </a:r>
            <a:r>
              <a:rPr lang="zh-CN" altLang="zh-CN" sz="1200" kern="1200" dirty="0">
                <a:solidFill>
                  <a:schemeClr val="tx1"/>
                </a:solidFill>
                <a:effectLst/>
                <a:latin typeface="+mn-lt"/>
                <a:ea typeface="+mn-ea"/>
                <a:cs typeface="+mn-cs"/>
              </a:rPr>
              <a:t>或</a:t>
            </a:r>
            <a:r>
              <a:rPr lang="en-US" altLang="zh-CN" sz="1200" kern="1200" dirty="0">
                <a:solidFill>
                  <a:schemeClr val="tx1"/>
                </a:solidFill>
                <a:effectLst/>
                <a:latin typeface="+mn-lt"/>
                <a:ea typeface="+mn-ea"/>
                <a:cs typeface="+mn-cs"/>
              </a:rPr>
              <a:t> 95%+</a:t>
            </a:r>
            <a:r>
              <a:rPr lang="zh-CN" altLang="zh-CN" sz="1200" kern="1200" dirty="0">
                <a:solidFill>
                  <a:schemeClr val="tx1"/>
                </a:solidFill>
                <a:effectLst/>
                <a:latin typeface="+mn-lt"/>
                <a:ea typeface="+mn-ea"/>
                <a:cs typeface="+mn-cs"/>
              </a:rPr>
              <a:t>）：模拟设备故障或通信错误</a:t>
            </a:r>
            <a:endParaRPr lang="zh-CN" altLang="zh-CN" sz="1200" kern="1200" dirty="0">
              <a:solidFill>
                <a:schemeClr val="tx1"/>
              </a:solidFill>
              <a:effectLst/>
              <a:latin typeface="+mn-lt"/>
              <a:ea typeface="+mn-ea"/>
              <a:cs typeface="+mn-cs"/>
            </a:endParaRPr>
          </a:p>
          <a:p>
            <a:pPr lvl="1"/>
            <a:r>
              <a:rPr lang="zh-CN" altLang="zh-CN" sz="1200" b="1" kern="1200" dirty="0">
                <a:solidFill>
                  <a:schemeClr val="tx1"/>
                </a:solidFill>
                <a:effectLst/>
                <a:latin typeface="+mn-lt"/>
                <a:ea typeface="+mn-ea"/>
                <a:cs typeface="+mn-cs"/>
              </a:rPr>
              <a:t>局部突跳</a:t>
            </a:r>
            <a:r>
              <a:rPr lang="zh-CN" altLang="zh-CN" sz="1200" kern="1200" dirty="0">
                <a:solidFill>
                  <a:schemeClr val="tx1"/>
                </a:solidFill>
                <a:effectLst/>
                <a:latin typeface="+mn-lt"/>
                <a:ea typeface="+mn-ea"/>
                <a:cs typeface="+mn-cs"/>
              </a:rPr>
              <a:t>：相邻点差值</a:t>
            </a:r>
            <a:r>
              <a:rPr lang="en-US" altLang="zh-CN" sz="1200" kern="1200" dirty="0">
                <a:solidFill>
                  <a:schemeClr val="tx1"/>
                </a:solidFill>
                <a:effectLst/>
                <a:latin typeface="+mn-lt"/>
                <a:ea typeface="+mn-ea"/>
                <a:cs typeface="+mn-cs"/>
              </a:rPr>
              <a:t> &gt;30%</a:t>
            </a:r>
            <a:r>
              <a:rPr lang="zh-CN" altLang="zh-CN" sz="1200" kern="1200" dirty="0">
                <a:solidFill>
                  <a:schemeClr val="tx1"/>
                </a:solidFill>
                <a:effectLst/>
                <a:latin typeface="+mn-lt"/>
                <a:ea typeface="+mn-ea"/>
                <a:cs typeface="+mn-cs"/>
              </a:rPr>
              <a:t>，模拟瞬时状态误报</a:t>
            </a:r>
            <a:endParaRPr lang="zh-CN" altLang="en-US" sz="1200" kern="1200" dirty="0">
              <a:solidFill>
                <a:schemeClr val="tx1"/>
              </a:solidFill>
              <a:effectLst/>
              <a:latin typeface="+mn-lt"/>
              <a:ea typeface="+mn-ea"/>
              <a:cs typeface="+mn-cs"/>
            </a:endParaRPr>
          </a:p>
          <a:p>
            <a:pPr lvl="1"/>
            <a:r>
              <a:rPr lang="zh-CN" altLang="zh-CN" sz="1200" b="1" kern="1200" dirty="0">
                <a:solidFill>
                  <a:schemeClr val="tx1"/>
                </a:solidFill>
                <a:effectLst/>
                <a:latin typeface="+mn-lt"/>
                <a:ea typeface="+mn-ea"/>
                <a:cs typeface="+mn-cs"/>
              </a:rPr>
              <a:t>平台卡滞</a:t>
            </a:r>
            <a:r>
              <a:rPr lang="zh-CN" altLang="zh-CN" sz="1200" kern="1200" dirty="0">
                <a:solidFill>
                  <a:schemeClr val="tx1"/>
                </a:solidFill>
                <a:effectLst/>
                <a:latin typeface="+mn-lt"/>
                <a:ea typeface="+mn-ea"/>
                <a:cs typeface="+mn-cs"/>
              </a:rPr>
              <a:t>：连续多个相同异常值，模拟传感器冻结</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04FF2BAF-1314-4B8B-B883-E172360560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D231094-D888-4EB5-A01D-8EC40ED8B9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771780-F23A-4362-931F-B2A885650E3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601485"/>
            <a:ext cx="9144000" cy="1431861"/>
          </a:xfrm>
        </p:spPr>
        <p:txBody>
          <a:bodyPr anchor="b">
            <a:normAutofit/>
          </a:bodyPr>
          <a:lstStyle>
            <a:lvl1pPr algn="ctr">
              <a:defRPr sz="5400" b="1">
                <a:solidFill>
                  <a:srgbClr val="003399"/>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357257"/>
            <a:ext cx="9144000" cy="827881"/>
          </a:xfrm>
        </p:spPr>
        <p:txBody>
          <a:bodyPr anchor="ctr">
            <a:normAutofit/>
          </a:bodyPr>
          <a:lstStyle>
            <a:lvl1pPr marL="0" indent="0" algn="ctr">
              <a:buNone/>
              <a:defRPr sz="2800" b="1">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grpSp>
        <p:nvGrpSpPr>
          <p:cNvPr id="11" name="组合 10"/>
          <p:cNvGrpSpPr/>
          <p:nvPr userDrawn="1"/>
        </p:nvGrpSpPr>
        <p:grpSpPr>
          <a:xfrm>
            <a:off x="0" y="4185138"/>
            <a:ext cx="12192000" cy="2672862"/>
            <a:chOff x="952500" y="457200"/>
            <a:chExt cx="10287000" cy="5943600"/>
          </a:xfrm>
        </p:grpSpPr>
        <p:pic>
          <p:nvPicPr>
            <p:cNvPr id="1026" name="Picture 2"/>
            <p:cNvPicPr>
              <a:picLocks noChangeAspect="1" noChangeArrowheads="1"/>
            </p:cNvPicPr>
            <p:nvPr userDrawn="1"/>
          </p:nvPicPr>
          <p:blipFill>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a:stretch>
              <a:fillRect/>
            </a:stretch>
          </p:blipFill>
          <p:spPr bwMode="auto">
            <a:xfrm>
              <a:off x="952500" y="457200"/>
              <a:ext cx="10287000" cy="5943600"/>
            </a:xfrm>
            <a:prstGeom prst="rect">
              <a:avLst/>
            </a:prstGeom>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userDrawn="1"/>
          </p:nvPicPr>
          <p:blipFill>
            <a:blip r:embed="rId4"/>
            <a:stretch>
              <a:fillRect/>
            </a:stretch>
          </p:blipFill>
          <p:spPr>
            <a:xfrm>
              <a:off x="1098305" y="1516063"/>
              <a:ext cx="1695450" cy="942975"/>
            </a:xfrm>
            <a:prstGeom prst="rect">
              <a:avLst/>
            </a:prstGeom>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7530" y="136525"/>
            <a:ext cx="6807740" cy="1325563"/>
          </a:xfrm>
        </p:spPr>
        <p:txBody>
          <a:bodyPr>
            <a:normAutofit/>
          </a:bodyPr>
          <a:lstStyle>
            <a:lvl1pPr>
              <a:defRPr sz="3600" b="1">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521677" y="1604124"/>
            <a:ext cx="10515600" cy="4351338"/>
          </a:xfrm>
        </p:spPr>
        <p:txBody>
          <a:bodyPr>
            <a:normAutofit/>
          </a:bodyPr>
          <a:lstStyle>
            <a:lvl1pPr marL="457200" indent="-457200">
              <a:lnSpc>
                <a:spcPct val="150000"/>
              </a:lnSpc>
              <a:buSzPct val="60000"/>
              <a:buFont typeface="Wingdings" panose="05000000000000000000" pitchFamily="2" charset="2"/>
              <a:buChar char="n"/>
              <a:defRPr sz="2400" b="0">
                <a:solidFill>
                  <a:schemeClr val="tx1"/>
                </a:solidFill>
                <a:latin typeface="黑体" panose="02010609060101010101" pitchFamily="49" charset="-122"/>
                <a:ea typeface="黑体" panose="02010609060101010101" pitchFamily="49" charset="-122"/>
              </a:defRPr>
            </a:lvl1pPr>
            <a:lvl2pPr marL="685800" indent="-228600">
              <a:lnSpc>
                <a:spcPct val="150000"/>
              </a:lnSpc>
              <a:buSzPct val="60000"/>
              <a:buFont typeface="Wingdings" panose="05000000000000000000" pitchFamily="2" charset="2"/>
              <a:buChar char="n"/>
              <a:defRPr sz="2000" b="0">
                <a:solidFill>
                  <a:schemeClr val="tx1"/>
                </a:solidFill>
                <a:latin typeface="黑体" panose="02010609060101010101" pitchFamily="49" charset="-122"/>
                <a:ea typeface="黑体" panose="02010609060101010101" pitchFamily="49" charset="-122"/>
              </a:defRPr>
            </a:lvl2pPr>
            <a:lvl3pPr>
              <a:lnSpc>
                <a:spcPct val="150000"/>
              </a:lnSpc>
              <a:defRPr sz="1800" b="0">
                <a:solidFill>
                  <a:schemeClr val="tx1"/>
                </a:solidFill>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endParaRPr lang="zh-CN" altLang="en-US" dirty="0"/>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sp>
        <p:nvSpPr>
          <p:cNvPr id="7" name="流程图: 过程 6"/>
          <p:cNvSpPr/>
          <p:nvPr userDrawn="1"/>
        </p:nvSpPr>
        <p:spPr>
          <a:xfrm>
            <a:off x="0" y="1371599"/>
            <a:ext cx="7645940" cy="77821"/>
          </a:xfrm>
          <a:prstGeom prst="flowChartProcess">
            <a:avLst/>
          </a:prstGeom>
          <a:gradFill flip="none" rotWithShape="1">
            <a:gsLst>
              <a:gs pos="57000">
                <a:srgbClr val="0066FF"/>
              </a:gs>
              <a:gs pos="24000">
                <a:srgbClr val="2730E1"/>
              </a:gs>
              <a:gs pos="100000">
                <a:schemeClr val="accent4">
                  <a:lumMod val="75000"/>
                </a:schemeClr>
              </a:gs>
            </a:gsLst>
            <a:lin ang="0" scaled="0"/>
            <a:tileRect/>
          </a:gra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7530" y="136525"/>
            <a:ext cx="6807740" cy="1325563"/>
          </a:xfrm>
        </p:spPr>
        <p:txBody>
          <a:bodyPr>
            <a:normAutofit/>
          </a:bodyPr>
          <a:lstStyle>
            <a:lvl1pPr>
              <a:defRPr sz="3600" b="1">
                <a:solidFill>
                  <a:schemeClr val="tx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sp>
        <p:nvSpPr>
          <p:cNvPr id="7" name="流程图: 过程 6"/>
          <p:cNvSpPr/>
          <p:nvPr userDrawn="1"/>
        </p:nvSpPr>
        <p:spPr>
          <a:xfrm>
            <a:off x="0" y="1371599"/>
            <a:ext cx="7645940" cy="77821"/>
          </a:xfrm>
          <a:prstGeom prst="flowChartProcess">
            <a:avLst/>
          </a:prstGeom>
          <a:gradFill flip="none" rotWithShape="1">
            <a:gsLst>
              <a:gs pos="57000">
                <a:srgbClr val="0066FF"/>
              </a:gs>
              <a:gs pos="24000">
                <a:srgbClr val="2730E1"/>
              </a:gs>
              <a:gs pos="100000">
                <a:schemeClr val="accent4">
                  <a:lumMod val="75000"/>
                </a:schemeClr>
              </a:gs>
            </a:gsLst>
            <a:lin ang="0" scaled="0"/>
            <a:tileRect/>
          </a:gra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125276" y="401653"/>
            <a:ext cx="6807740" cy="1325563"/>
          </a:xfrm>
        </p:spPr>
        <p:txBody>
          <a:bodyPr>
            <a:normAutofit/>
          </a:bodyPr>
          <a:lstStyle>
            <a:lvl1pPr>
              <a:defRPr sz="4000" b="1">
                <a:solidFill>
                  <a:srgbClr val="003399"/>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229100" y="2083776"/>
            <a:ext cx="7124699" cy="3994777"/>
          </a:xfrm>
        </p:spPr>
        <p:txBody>
          <a:bodyPr>
            <a:normAutofit/>
          </a:bodyPr>
          <a:lstStyle>
            <a:lvl1pPr>
              <a:lnSpc>
                <a:spcPct val="150000"/>
              </a:lnSpc>
              <a:defRPr sz="3200" b="1">
                <a:solidFill>
                  <a:srgbClr val="003399"/>
                </a:solidFill>
                <a:latin typeface="黑体" panose="02010609060101010101" pitchFamily="49" charset="-122"/>
                <a:ea typeface="黑体" panose="02010609060101010101" pitchFamily="49" charset="-122"/>
              </a:defRPr>
            </a:lvl1pPr>
            <a:lvl2pPr>
              <a:lnSpc>
                <a:spcPct val="150000"/>
              </a:lnSpc>
              <a:defRPr sz="2800" b="1">
                <a:solidFill>
                  <a:srgbClr val="003399"/>
                </a:solidFill>
                <a:latin typeface="黑体" panose="02010609060101010101" pitchFamily="49" charset="-122"/>
                <a:ea typeface="黑体" panose="02010609060101010101" pitchFamily="49" charset="-122"/>
              </a:defRPr>
            </a:lvl2pPr>
            <a:lvl3pPr>
              <a:lnSpc>
                <a:spcPct val="150000"/>
              </a:lnSpc>
              <a:defRPr sz="2400" b="1">
                <a:solidFill>
                  <a:srgbClr val="003399"/>
                </a:solidFill>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endParaRPr lang="zh-CN" altLang="en-US" dirty="0"/>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pic>
        <p:nvPicPr>
          <p:cNvPr id="9" name="图片 8"/>
          <p:cNvPicPr>
            <a:picLocks noChangeAspect="1"/>
          </p:cNvPicPr>
          <p:nvPr userDrawn="1"/>
        </p:nvPicPr>
        <p:blipFill>
          <a:blip r:embed="rId2"/>
          <a:stretch>
            <a:fillRect/>
          </a:stretch>
        </p:blipFill>
        <p:spPr>
          <a:xfrm>
            <a:off x="0" y="0"/>
            <a:ext cx="3402623" cy="6858000"/>
          </a:xfrm>
          <a:prstGeom prst="rect">
            <a:avLst/>
          </a:prstGeom>
        </p:spPr>
      </p:pic>
      <p:sp>
        <p:nvSpPr>
          <p:cNvPr id="10" name="流程图: 过程 9"/>
          <p:cNvSpPr/>
          <p:nvPr userDrawn="1"/>
        </p:nvSpPr>
        <p:spPr>
          <a:xfrm>
            <a:off x="3968479" y="1828146"/>
            <a:ext cx="7645940" cy="77821"/>
          </a:xfrm>
          <a:prstGeom prst="flowChartProcess">
            <a:avLst/>
          </a:prstGeom>
          <a:gradFill flip="none" rotWithShape="1">
            <a:gsLst>
              <a:gs pos="57000">
                <a:srgbClr val="0066FF"/>
              </a:gs>
              <a:gs pos="24000">
                <a:srgbClr val="2730E1"/>
              </a:gs>
              <a:gs pos="100000">
                <a:schemeClr val="accent4">
                  <a:lumMod val="75000"/>
                </a:schemeClr>
              </a:gs>
            </a:gsLst>
            <a:lin ang="0" scaled="0"/>
            <a:tileRect/>
          </a:gra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77530" y="136525"/>
            <a:ext cx="6807740" cy="1325563"/>
          </a:xfrm>
        </p:spPr>
        <p:txBody>
          <a:bodyPr>
            <a:normAutofit/>
          </a:bodyPr>
          <a:lstStyle>
            <a:lvl1pPr>
              <a:defRPr sz="3600" b="1">
                <a:solidFill>
                  <a:srgbClr val="003399"/>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838200" y="1727216"/>
            <a:ext cx="10515600" cy="4351338"/>
          </a:xfrm>
        </p:spPr>
        <p:txBody>
          <a:bodyPr/>
          <a:lstStyle>
            <a:lvl1pPr>
              <a:lnSpc>
                <a:spcPct val="150000"/>
              </a:lnSpc>
              <a:defRPr b="1">
                <a:solidFill>
                  <a:srgbClr val="003399"/>
                </a:solidFill>
                <a:latin typeface="黑体" panose="02010609060101010101" pitchFamily="49" charset="-122"/>
                <a:ea typeface="黑体" panose="02010609060101010101" pitchFamily="49" charset="-122"/>
              </a:defRPr>
            </a:lvl1pPr>
            <a:lvl2pPr>
              <a:lnSpc>
                <a:spcPct val="150000"/>
              </a:lnSpc>
              <a:defRPr b="1">
                <a:solidFill>
                  <a:srgbClr val="003399"/>
                </a:solidFill>
                <a:latin typeface="黑体" panose="02010609060101010101" pitchFamily="49" charset="-122"/>
                <a:ea typeface="黑体" panose="02010609060101010101" pitchFamily="49" charset="-122"/>
              </a:defRPr>
            </a:lvl2pPr>
            <a:lvl3pPr>
              <a:lnSpc>
                <a:spcPct val="150000"/>
              </a:lnSpc>
              <a:defRPr b="1">
                <a:solidFill>
                  <a:srgbClr val="003399"/>
                </a:solidFill>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endParaRPr lang="zh-CN" altLang="en-US" dirty="0"/>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sp>
        <p:nvSpPr>
          <p:cNvPr id="7" name="流程图: 过程 6"/>
          <p:cNvSpPr/>
          <p:nvPr userDrawn="1"/>
        </p:nvSpPr>
        <p:spPr>
          <a:xfrm>
            <a:off x="0" y="1371599"/>
            <a:ext cx="7645940" cy="77821"/>
          </a:xfrm>
          <a:prstGeom prst="flowChartProcess">
            <a:avLst/>
          </a:prstGeom>
          <a:gradFill flip="none" rotWithShape="1">
            <a:gsLst>
              <a:gs pos="57000">
                <a:srgbClr val="0066FF"/>
              </a:gs>
              <a:gs pos="24000">
                <a:srgbClr val="2730E1"/>
              </a:gs>
              <a:gs pos="100000">
                <a:schemeClr val="accent4">
                  <a:lumMod val="75000"/>
                </a:schemeClr>
              </a:gs>
            </a:gsLst>
            <a:lin ang="0" scaled="0"/>
            <a:tileRect/>
          </a:gra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36B89A3-59DB-45CE-8159-ED7DFCD9128B}"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36B89A3-59DB-45CE-8159-ED7DFCD9128B}"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36B89A3-59DB-45CE-8159-ED7DFCD9128B}" type="slidenum">
              <a:rPr lang="zh-CN" altLang="en-US" smtClean="0"/>
            </a:fld>
            <a:endParaRPr lang="zh-CN" altLang="en-US"/>
          </a:p>
        </p:txBody>
      </p:sp>
      <p:sp>
        <p:nvSpPr>
          <p:cNvPr id="5" name="流程图: 过程 4"/>
          <p:cNvSpPr/>
          <p:nvPr userDrawn="1"/>
        </p:nvSpPr>
        <p:spPr>
          <a:xfrm>
            <a:off x="0" y="1371599"/>
            <a:ext cx="7645940" cy="77821"/>
          </a:xfrm>
          <a:prstGeom prst="flowChartProcess">
            <a:avLst/>
          </a:prstGeom>
          <a:gradFill flip="none" rotWithShape="1">
            <a:gsLst>
              <a:gs pos="57000">
                <a:srgbClr val="0066FF"/>
              </a:gs>
              <a:gs pos="24000">
                <a:srgbClr val="2730E1"/>
              </a:gs>
              <a:gs pos="100000">
                <a:schemeClr val="accent4">
                  <a:lumMod val="75000"/>
                </a:schemeClr>
              </a:gs>
            </a:gsLst>
            <a:lin ang="0" scaled="0"/>
            <a:tileRect/>
          </a:gradFill>
          <a:ln>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6B89A3-59DB-45CE-8159-ED7DFCD9128B}"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36B89A3-59DB-45CE-8159-ED7DFCD9128B}"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64926CA-4B1F-451B-AAA2-D63E747C62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36B89A3-59DB-45CE-8159-ED7DFCD9128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231094-D888-4EB5-A01D-8EC40ED8B93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771780-F23A-4362-931F-B2A885650E3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4926CA-4B1F-451B-AAA2-D63E747C62A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6B89A3-59DB-45CE-8159-ED7DFCD9128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77530" y="136525"/>
            <a:ext cx="11538220" cy="1325563"/>
          </a:xfrm>
        </p:spPr>
        <p:txBody>
          <a:bodyPr>
            <a:normAutofit/>
          </a:bodyPr>
          <a:lstStyle/>
          <a:p>
            <a:r>
              <a:rPr lang="zh-CN" altLang="en-US" sz="3200" dirty="0"/>
              <a:t>小组实验</a:t>
            </a:r>
            <a:r>
              <a:rPr lang="en-US" altLang="zh-CN" sz="3200" dirty="0"/>
              <a:t>2</a:t>
            </a:r>
            <a:r>
              <a:rPr lang="zh-CN" altLang="en-US" sz="3200" dirty="0"/>
              <a:t>：微电网储能荷电状态（</a:t>
            </a:r>
            <a:r>
              <a:rPr lang="en-US" altLang="zh-CN" sz="3200" dirty="0"/>
              <a:t>SOC</a:t>
            </a:r>
            <a:r>
              <a:rPr lang="zh-CN" altLang="en-US" sz="3200" dirty="0"/>
              <a:t>）安全区间校验</a:t>
            </a:r>
            <a:endParaRPr lang="zh-CN" altLang="en-US" sz="3200" dirty="0"/>
          </a:p>
        </p:txBody>
      </p:sp>
      <p:sp>
        <p:nvSpPr>
          <p:cNvPr id="4" name="内容占位符 3"/>
          <p:cNvSpPr>
            <a:spLocks noGrp="1"/>
          </p:cNvSpPr>
          <p:nvPr>
            <p:ph idx="1"/>
          </p:nvPr>
        </p:nvSpPr>
        <p:spPr>
          <a:xfrm>
            <a:off x="95694" y="1572226"/>
            <a:ext cx="11928666" cy="5285774"/>
          </a:xfrm>
        </p:spPr>
        <p:txBody>
          <a:bodyPr>
            <a:normAutofit fontScale="92500"/>
          </a:bodyPr>
          <a:lstStyle/>
          <a:p>
            <a:r>
              <a:rPr lang="zh-CN" altLang="en-US" sz="2200" dirty="0"/>
              <a:t>某社区微电网部署了 </a:t>
            </a:r>
            <a:r>
              <a:rPr lang="en-US" altLang="zh-CN" sz="2200" dirty="0"/>
              <a:t>N </a:t>
            </a:r>
            <a:r>
              <a:rPr lang="zh-CN" altLang="en-US" sz="2200" dirty="0"/>
              <a:t>个户用储能系统，沿一条配电线路线性排列（编号 </a:t>
            </a:r>
            <a:r>
              <a:rPr lang="en-US" altLang="zh-CN" sz="2200" dirty="0"/>
              <a:t>1 ~</a:t>
            </a:r>
            <a:r>
              <a:rPr lang="zh-CN" altLang="en-US" sz="2200" dirty="0"/>
              <a:t> </a:t>
            </a:r>
            <a:r>
              <a:rPr lang="en-US" altLang="zh-CN" sz="2200" dirty="0"/>
              <a:t>N</a:t>
            </a:r>
            <a:r>
              <a:rPr lang="zh-CN" altLang="en-US" sz="2200" dirty="0"/>
              <a:t>）。</a:t>
            </a:r>
            <a:r>
              <a:rPr lang="zh-CN" altLang="en-US" sz="2200" dirty="0">
                <a:solidFill>
                  <a:schemeClr val="accent1">
                    <a:lumMod val="75000"/>
                  </a:schemeClr>
                </a:solidFill>
              </a:rPr>
              <a:t>能量管理系统每天需校验这些储能的最终荷电状态（</a:t>
            </a:r>
            <a:r>
              <a:rPr lang="en-US" altLang="zh-CN" sz="2200" dirty="0">
                <a:solidFill>
                  <a:schemeClr val="accent1">
                    <a:lumMod val="75000"/>
                  </a:schemeClr>
                </a:solidFill>
              </a:rPr>
              <a:t>SOC</a:t>
            </a:r>
            <a:r>
              <a:rPr lang="zh-CN" altLang="en-US" sz="2200" dirty="0">
                <a:solidFill>
                  <a:schemeClr val="accent1">
                    <a:lumMod val="75000"/>
                  </a:schemeClr>
                </a:solidFill>
              </a:rPr>
              <a:t>，单位：</a:t>
            </a:r>
            <a:r>
              <a:rPr lang="en-US" altLang="zh-CN" sz="2200" dirty="0">
                <a:solidFill>
                  <a:schemeClr val="accent1">
                    <a:lumMod val="75000"/>
                  </a:schemeClr>
                </a:solidFill>
              </a:rPr>
              <a:t>%</a:t>
            </a:r>
            <a:r>
              <a:rPr lang="zh-CN" altLang="en-US" sz="2200" dirty="0">
                <a:solidFill>
                  <a:schemeClr val="accent1">
                    <a:lumMod val="75000"/>
                  </a:schemeClr>
                </a:solidFill>
              </a:rPr>
              <a:t>） 是否处于安全运行范围（正常 </a:t>
            </a:r>
            <a:r>
              <a:rPr lang="en-US" altLang="zh-CN" sz="2200" dirty="0">
                <a:solidFill>
                  <a:schemeClr val="accent1">
                    <a:lumMod val="75000"/>
                  </a:schemeClr>
                </a:solidFill>
              </a:rPr>
              <a:t>SOC </a:t>
            </a:r>
            <a:r>
              <a:rPr lang="zh-CN" altLang="en-US" sz="2200" dirty="0">
                <a:solidFill>
                  <a:schemeClr val="accent1">
                    <a:lumMod val="75000"/>
                  </a:schemeClr>
                </a:solidFill>
              </a:rPr>
              <a:t>范围：</a:t>
            </a:r>
            <a:r>
              <a:rPr lang="en-US" altLang="zh-CN" sz="2200" dirty="0">
                <a:solidFill>
                  <a:schemeClr val="accent1">
                    <a:lumMod val="75000"/>
                  </a:schemeClr>
                </a:solidFill>
              </a:rPr>
              <a:t>20% ~ 80%</a:t>
            </a:r>
            <a:r>
              <a:rPr lang="zh-CN" altLang="en-US" sz="2200" dirty="0">
                <a:solidFill>
                  <a:schemeClr val="accent1">
                    <a:lumMod val="75000"/>
                  </a:schemeClr>
                </a:solidFill>
              </a:rPr>
              <a:t>）内</a:t>
            </a:r>
            <a:r>
              <a:rPr lang="zh-CN" altLang="en-US" sz="2200" dirty="0"/>
              <a:t>。为提升效率并保护用户隐私，系统不直接检查每个 </a:t>
            </a:r>
            <a:r>
              <a:rPr lang="en-US" altLang="zh-CN" sz="2200" dirty="0"/>
              <a:t>SOC </a:t>
            </a:r>
            <a:r>
              <a:rPr lang="zh-CN" altLang="en-US" sz="2200" dirty="0"/>
              <a:t>值，而是采用如下策略：</a:t>
            </a:r>
            <a:endParaRPr lang="en-US" altLang="zh-CN" sz="2200" dirty="0"/>
          </a:p>
          <a:p>
            <a:r>
              <a:rPr lang="zh-CN" altLang="en-US" sz="2200" dirty="0"/>
              <a:t>将 </a:t>
            </a:r>
            <a:r>
              <a:rPr lang="en-US" altLang="zh-CN" sz="2200" dirty="0"/>
              <a:t>N </a:t>
            </a:r>
            <a:r>
              <a:rPr lang="zh-CN" altLang="en-US" sz="2200" dirty="0"/>
              <a:t>个储能划分为若干连续子段。对每个子段，</a:t>
            </a:r>
            <a:r>
              <a:rPr lang="zh-CN" altLang="en-US" sz="2200" b="1" dirty="0">
                <a:solidFill>
                  <a:schemeClr val="accent1">
                    <a:lumMod val="75000"/>
                  </a:schemeClr>
                </a:solidFill>
              </a:rPr>
              <a:t>只要其最大 </a:t>
            </a:r>
            <a:r>
              <a:rPr lang="en-US" altLang="zh-CN" sz="2200" b="1" dirty="0">
                <a:solidFill>
                  <a:schemeClr val="accent1">
                    <a:lumMod val="75000"/>
                  </a:schemeClr>
                </a:solidFill>
              </a:rPr>
              <a:t>SOC </a:t>
            </a:r>
            <a:r>
              <a:rPr lang="zh-CN" altLang="en-US" sz="2200" b="1" dirty="0">
                <a:solidFill>
                  <a:schemeClr val="accent1">
                    <a:lumMod val="75000"/>
                  </a:schemeClr>
                </a:solidFill>
              </a:rPr>
              <a:t>与最小 </a:t>
            </a:r>
            <a:r>
              <a:rPr lang="en-US" altLang="zh-CN" sz="2200" b="1" dirty="0">
                <a:solidFill>
                  <a:schemeClr val="accent1">
                    <a:lumMod val="75000"/>
                  </a:schemeClr>
                </a:solidFill>
              </a:rPr>
              <a:t>SOC </a:t>
            </a:r>
            <a:r>
              <a:rPr lang="zh-CN" altLang="en-US" sz="2200" b="1" dirty="0">
                <a:solidFill>
                  <a:schemeClr val="accent1">
                    <a:lumMod val="75000"/>
                  </a:schemeClr>
                </a:solidFill>
              </a:rPr>
              <a:t>之差不超过阈值 </a:t>
            </a:r>
            <a:r>
              <a:rPr lang="en-US" altLang="zh-CN" sz="2200" b="1" dirty="0">
                <a:solidFill>
                  <a:schemeClr val="accent1">
                    <a:lumMod val="75000"/>
                  </a:schemeClr>
                </a:solidFill>
              </a:rPr>
              <a:t>D</a:t>
            </a:r>
            <a:r>
              <a:rPr lang="zh-CN" altLang="en-US" sz="2200" b="1" dirty="0">
                <a:solidFill>
                  <a:schemeClr val="accent1">
                    <a:lumMod val="75000"/>
                  </a:schemeClr>
                </a:solidFill>
              </a:rPr>
              <a:t>，就认为该子段整体“状态一致、无需干预”</a:t>
            </a:r>
            <a:r>
              <a:rPr lang="zh-CN" altLang="en-US" sz="2200" dirty="0"/>
              <a:t>；否则，需对该子段进一步人工核查。</a:t>
            </a:r>
            <a:endParaRPr lang="en-US" altLang="zh-CN" sz="2200" dirty="0"/>
          </a:p>
          <a:p>
            <a:r>
              <a:rPr lang="zh-CN" altLang="en-US" sz="2200" dirty="0"/>
              <a:t>问题：整个序列</a:t>
            </a:r>
            <a:r>
              <a:rPr lang="zh-CN" altLang="en-US" sz="2200" dirty="0">
                <a:solidFill>
                  <a:srgbClr val="FF0000"/>
                </a:solidFill>
              </a:rPr>
              <a:t>最少需要划分成多少段</a:t>
            </a:r>
            <a:r>
              <a:rPr lang="zh-CN" altLang="en-US" sz="2200" dirty="0"/>
              <a:t>，使得每段</a:t>
            </a:r>
            <a:r>
              <a:rPr lang="zh-CN" altLang="en-US" sz="2200" dirty="0">
                <a:solidFill>
                  <a:srgbClr val="FF0000"/>
                </a:solidFill>
              </a:rPr>
              <a:t>的 </a:t>
            </a:r>
            <a:r>
              <a:rPr lang="en-US" altLang="zh-CN" sz="2200" dirty="0">
                <a:solidFill>
                  <a:srgbClr val="FF0000"/>
                </a:solidFill>
              </a:rPr>
              <a:t>SOC </a:t>
            </a:r>
            <a:r>
              <a:rPr lang="zh-CN" altLang="en-US" sz="2200" dirty="0">
                <a:solidFill>
                  <a:srgbClr val="FF0000"/>
                </a:solidFill>
              </a:rPr>
              <a:t>极差 ≤ </a:t>
            </a:r>
            <a:r>
              <a:rPr lang="en-US" altLang="zh-CN" sz="2200" dirty="0">
                <a:solidFill>
                  <a:srgbClr val="FF0000"/>
                </a:solidFill>
              </a:rPr>
              <a:t>D</a:t>
            </a:r>
            <a:r>
              <a:rPr lang="zh-CN" altLang="en-US" sz="2200" dirty="0"/>
              <a:t>。</a:t>
            </a:r>
            <a:endParaRPr lang="en-US" altLang="zh-CN" sz="2200" dirty="0"/>
          </a:p>
          <a:p>
            <a:pPr marL="720090" indent="0">
              <a:lnSpc>
                <a:spcPct val="120000"/>
              </a:lnSpc>
              <a:buNone/>
            </a:pPr>
            <a:r>
              <a:rPr lang="zh-CN" altLang="en-US" sz="1800" dirty="0">
                <a:solidFill>
                  <a:schemeClr val="accent1">
                    <a:lumMod val="75000"/>
                  </a:schemeClr>
                </a:solidFill>
              </a:rPr>
              <a:t>说明：</a:t>
            </a:r>
            <a:endParaRPr lang="zh-CN" altLang="en-US" sz="1800" dirty="0">
              <a:solidFill>
                <a:schemeClr val="accent1">
                  <a:lumMod val="75000"/>
                </a:schemeClr>
              </a:solidFill>
            </a:endParaRPr>
          </a:p>
          <a:p>
            <a:pPr marL="720090" indent="0">
              <a:lnSpc>
                <a:spcPct val="120000"/>
              </a:lnSpc>
              <a:buNone/>
            </a:pPr>
            <a:r>
              <a:rPr lang="en-US" altLang="zh-CN" sz="1800" dirty="0">
                <a:solidFill>
                  <a:schemeClr val="accent1">
                    <a:lumMod val="75000"/>
                  </a:schemeClr>
                </a:solidFill>
              </a:rPr>
              <a:t>1. </a:t>
            </a:r>
            <a:r>
              <a:rPr lang="zh-CN" altLang="en-US" sz="1800" dirty="0">
                <a:solidFill>
                  <a:schemeClr val="accent1">
                    <a:lumMod val="75000"/>
                  </a:schemeClr>
                </a:solidFill>
              </a:rPr>
              <a:t>工程痛点：在含 </a:t>
            </a:r>
            <a:r>
              <a:rPr lang="en-US" altLang="zh-CN" sz="1800" dirty="0">
                <a:solidFill>
                  <a:schemeClr val="accent1">
                    <a:lumMod val="75000"/>
                  </a:schemeClr>
                </a:solidFill>
              </a:rPr>
              <a:t>thousands </a:t>
            </a:r>
            <a:r>
              <a:rPr lang="zh-CN" altLang="en-US" sz="1800" dirty="0">
                <a:solidFill>
                  <a:schemeClr val="accent1">
                    <a:lumMod val="75000"/>
                  </a:schemeClr>
                </a:solidFill>
              </a:rPr>
              <a:t>级户用储能的微电网中，逐点监控 </a:t>
            </a:r>
            <a:r>
              <a:rPr lang="en-US" altLang="zh-CN" sz="1800" dirty="0">
                <a:solidFill>
                  <a:schemeClr val="accent1">
                    <a:lumMod val="75000"/>
                  </a:schemeClr>
                </a:solidFill>
              </a:rPr>
              <a:t>SOC </a:t>
            </a:r>
            <a:r>
              <a:rPr lang="zh-CN" altLang="en-US" sz="1800" dirty="0">
                <a:solidFill>
                  <a:schemeClr val="accent1">
                    <a:lumMod val="75000"/>
                  </a:schemeClr>
                </a:solidFill>
              </a:rPr>
              <a:t>不现实；</a:t>
            </a:r>
            <a:endParaRPr lang="zh-CN" altLang="en-US" sz="1800" dirty="0">
              <a:solidFill>
                <a:schemeClr val="accent1">
                  <a:lumMod val="75000"/>
                </a:schemeClr>
              </a:solidFill>
            </a:endParaRPr>
          </a:p>
          <a:p>
            <a:pPr marL="720090" indent="0">
              <a:lnSpc>
                <a:spcPct val="120000"/>
              </a:lnSpc>
              <a:buNone/>
            </a:pPr>
            <a:r>
              <a:rPr lang="en-US" altLang="zh-CN" sz="1800" dirty="0">
                <a:solidFill>
                  <a:schemeClr val="accent1">
                    <a:lumMod val="75000"/>
                  </a:schemeClr>
                </a:solidFill>
              </a:rPr>
              <a:t>2. </a:t>
            </a:r>
            <a:r>
              <a:rPr lang="zh-CN" altLang="en-US" sz="1800" dirty="0">
                <a:solidFill>
                  <a:schemeClr val="accent1">
                    <a:lumMod val="75000"/>
                  </a:schemeClr>
                </a:solidFill>
              </a:rPr>
              <a:t>安全要求：</a:t>
            </a:r>
            <a:r>
              <a:rPr lang="en-US" altLang="zh-CN" sz="1800" dirty="0">
                <a:solidFill>
                  <a:schemeClr val="accent1">
                    <a:lumMod val="75000"/>
                  </a:schemeClr>
                </a:solidFill>
              </a:rPr>
              <a:t>SOC </a:t>
            </a:r>
            <a:r>
              <a:rPr lang="zh-CN" altLang="en-US" sz="1800" dirty="0">
                <a:solidFill>
                  <a:schemeClr val="accent1">
                    <a:lumMod val="75000"/>
                  </a:schemeClr>
                </a:solidFill>
              </a:rPr>
              <a:t>差异过大（如 </a:t>
            </a:r>
            <a:r>
              <a:rPr lang="en-US" altLang="zh-CN" sz="1800" dirty="0">
                <a:solidFill>
                  <a:schemeClr val="accent1">
                    <a:lumMod val="75000"/>
                  </a:schemeClr>
                </a:solidFill>
              </a:rPr>
              <a:t>20% vs 90%</a:t>
            </a:r>
            <a:r>
              <a:rPr lang="zh-CN" altLang="en-US" sz="1800" dirty="0">
                <a:solidFill>
                  <a:schemeClr val="accent1">
                    <a:lumMod val="75000"/>
                  </a:schemeClr>
                </a:solidFill>
              </a:rPr>
              <a:t>）可能导致并联环流、过充</a:t>
            </a:r>
            <a:r>
              <a:rPr lang="en-US" altLang="zh-CN" sz="1800" dirty="0">
                <a:solidFill>
                  <a:schemeClr val="accent1">
                    <a:lumMod val="75000"/>
                  </a:schemeClr>
                </a:solidFill>
              </a:rPr>
              <a:t>/</a:t>
            </a:r>
            <a:r>
              <a:rPr lang="zh-CN" altLang="en-US" sz="1800" dirty="0">
                <a:solidFill>
                  <a:schemeClr val="accent1">
                    <a:lumMod val="75000"/>
                  </a:schemeClr>
                </a:solidFill>
              </a:rPr>
              <a:t>过放，危及设备安全；</a:t>
            </a:r>
            <a:endParaRPr lang="zh-CN" altLang="en-US" sz="1800" dirty="0">
              <a:solidFill>
                <a:schemeClr val="accent1">
                  <a:lumMod val="75000"/>
                </a:schemeClr>
              </a:solidFill>
            </a:endParaRPr>
          </a:p>
          <a:p>
            <a:pPr marL="720090" indent="0">
              <a:lnSpc>
                <a:spcPct val="120000"/>
              </a:lnSpc>
              <a:buNone/>
            </a:pPr>
            <a:r>
              <a:rPr lang="en-US" altLang="zh-CN" sz="1800" dirty="0">
                <a:solidFill>
                  <a:schemeClr val="accent1">
                    <a:lumMod val="75000"/>
                  </a:schemeClr>
                </a:solidFill>
              </a:rPr>
              <a:t>3. </a:t>
            </a:r>
            <a:r>
              <a:rPr lang="zh-CN" altLang="en-US" sz="1800" dirty="0">
                <a:solidFill>
                  <a:schemeClr val="accent1">
                    <a:lumMod val="75000"/>
                  </a:schemeClr>
                </a:solidFill>
              </a:rPr>
              <a:t>运维策略：通过“一致性分段”快速识别异常集群，是当前智能微电网边缘计算的核心功能；</a:t>
            </a:r>
            <a:endParaRPr lang="zh-CN" altLang="en-US" sz="1800" dirty="0">
              <a:solidFill>
                <a:schemeClr val="accent1">
                  <a:lumMod val="75000"/>
                </a:schemeClr>
              </a:solidFill>
            </a:endParaRPr>
          </a:p>
          <a:p>
            <a:pPr marL="720090" indent="0">
              <a:lnSpc>
                <a:spcPct val="120000"/>
              </a:lnSpc>
              <a:buNone/>
            </a:pPr>
            <a:r>
              <a:rPr lang="en-US" altLang="zh-CN" sz="1800" dirty="0">
                <a:solidFill>
                  <a:schemeClr val="accent1">
                    <a:lumMod val="75000"/>
                  </a:schemeClr>
                </a:solidFill>
              </a:rPr>
              <a:t>4. </a:t>
            </a:r>
            <a:r>
              <a:rPr lang="zh-CN" altLang="en-US" sz="1800" dirty="0">
                <a:solidFill>
                  <a:schemeClr val="accent1">
                    <a:lumMod val="75000"/>
                  </a:schemeClr>
                </a:solidFill>
              </a:rPr>
              <a:t>标准依据：参考</a:t>
            </a:r>
            <a:r>
              <a:rPr lang="en-US" altLang="zh-CN" sz="1800" dirty="0">
                <a:solidFill>
                  <a:schemeClr val="accent1">
                    <a:lumMod val="75000"/>
                  </a:schemeClr>
                </a:solidFill>
              </a:rPr>
              <a:t>《GB/T 36276-2023 </a:t>
            </a:r>
            <a:r>
              <a:rPr lang="zh-CN" altLang="en-US" sz="1800" dirty="0">
                <a:solidFill>
                  <a:schemeClr val="accent1">
                    <a:lumMod val="75000"/>
                  </a:schemeClr>
                </a:solidFill>
              </a:rPr>
              <a:t>电力储能用锂离子电池</a:t>
            </a:r>
            <a:r>
              <a:rPr lang="en-US" altLang="zh-CN" sz="1800" dirty="0">
                <a:solidFill>
                  <a:schemeClr val="accent1">
                    <a:lumMod val="75000"/>
                  </a:schemeClr>
                </a:solidFill>
              </a:rPr>
              <a:t>》</a:t>
            </a:r>
            <a:r>
              <a:rPr lang="zh-CN" altLang="en-US" sz="1800" dirty="0">
                <a:solidFill>
                  <a:schemeClr val="accent1">
                    <a:lumMod val="75000"/>
                  </a:schemeClr>
                </a:solidFill>
              </a:rPr>
              <a:t>中关于 </a:t>
            </a:r>
            <a:r>
              <a:rPr lang="en-US" altLang="zh-CN" sz="1800" dirty="0">
                <a:solidFill>
                  <a:schemeClr val="accent1">
                    <a:lumMod val="75000"/>
                  </a:schemeClr>
                </a:solidFill>
              </a:rPr>
              <a:t>SOC </a:t>
            </a:r>
            <a:r>
              <a:rPr lang="zh-CN" altLang="en-US" sz="1800" dirty="0">
                <a:solidFill>
                  <a:schemeClr val="accent1">
                    <a:lumMod val="75000"/>
                  </a:schemeClr>
                </a:solidFill>
              </a:rPr>
              <a:t>均衡性的要求。</a:t>
            </a:r>
            <a:endParaRPr lang="zh-CN" altLang="en-US" sz="1800" dirty="0">
              <a:solidFill>
                <a:schemeClr val="accent1">
                  <a:lumMod val="75000"/>
                </a:schemeClr>
              </a:solidFill>
            </a:endParaRPr>
          </a:p>
          <a:p>
            <a:endParaRPr lang="en-US" altLang="zh-CN"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7530" y="136525"/>
            <a:ext cx="11538220" cy="1325563"/>
          </a:xfrm>
        </p:spPr>
        <p:txBody>
          <a:bodyPr>
            <a:normAutofit/>
          </a:bodyPr>
          <a:lstStyle/>
          <a:p>
            <a:r>
              <a:rPr lang="zh-CN" altLang="en-US" sz="3200" dirty="0"/>
              <a:t>小组实验</a:t>
            </a:r>
            <a:r>
              <a:rPr lang="en-US" altLang="zh-CN" sz="3200" dirty="0"/>
              <a:t>2</a:t>
            </a:r>
            <a:r>
              <a:rPr lang="zh-CN" altLang="en-US" sz="3200" dirty="0"/>
              <a:t>：微电网储能荷电状态（</a:t>
            </a:r>
            <a:r>
              <a:rPr lang="en-US" altLang="zh-CN" sz="3200" dirty="0"/>
              <a:t>SOC</a:t>
            </a:r>
            <a:r>
              <a:rPr lang="zh-CN" altLang="en-US" sz="3200" dirty="0"/>
              <a:t>）安全区间校验</a:t>
            </a:r>
            <a:endParaRPr lang="zh-CN" altLang="en-US" sz="3200" dirty="0"/>
          </a:p>
        </p:txBody>
      </p:sp>
      <p:sp>
        <p:nvSpPr>
          <p:cNvPr id="3" name="内容占位符 2"/>
          <p:cNvSpPr>
            <a:spLocks noGrp="1"/>
          </p:cNvSpPr>
          <p:nvPr>
            <p:ph idx="1"/>
          </p:nvPr>
        </p:nvSpPr>
        <p:spPr>
          <a:xfrm>
            <a:off x="521676" y="1604124"/>
            <a:ext cx="10874033" cy="4351338"/>
          </a:xfrm>
        </p:spPr>
        <p:txBody>
          <a:bodyPr>
            <a:normAutofit lnSpcReduction="10000"/>
          </a:bodyPr>
          <a:lstStyle/>
          <a:p>
            <a:r>
              <a:rPr lang="zh-CN" altLang="en-US" sz="2200" b="1" dirty="0"/>
              <a:t>已知数据：</a:t>
            </a:r>
            <a:endParaRPr lang="zh-CN" altLang="en-US" sz="2200" dirty="0"/>
          </a:p>
          <a:p>
            <a:r>
              <a:rPr lang="en-US" altLang="zh-CN" sz="2200" dirty="0">
                <a:solidFill>
                  <a:schemeClr val="accent1">
                    <a:lumMod val="75000"/>
                  </a:schemeClr>
                </a:solidFill>
              </a:rPr>
              <a:t>N=100,D=8</a:t>
            </a:r>
            <a:endParaRPr lang="en-US" altLang="zh-CN" sz="2200" dirty="0">
              <a:solidFill>
                <a:schemeClr val="accent1">
                  <a:lumMod val="75000"/>
                </a:schemeClr>
              </a:solidFill>
            </a:endParaRPr>
          </a:p>
          <a:p>
            <a:r>
              <a:rPr lang="en-US" altLang="zh-CN" sz="2200" dirty="0">
                <a:solidFill>
                  <a:schemeClr val="accent1">
                    <a:lumMod val="75000"/>
                  </a:schemeClr>
                </a:solidFill>
              </a:rPr>
              <a:t>100</a:t>
            </a:r>
            <a:r>
              <a:rPr lang="zh-CN" altLang="en-US" sz="2200" dirty="0">
                <a:solidFill>
                  <a:schemeClr val="accent1">
                    <a:lumMod val="75000"/>
                  </a:schemeClr>
                </a:solidFill>
              </a:rPr>
              <a:t>个储能某天的</a:t>
            </a:r>
            <a:r>
              <a:rPr lang="en-US" altLang="zh-CN" sz="2200" dirty="0">
                <a:solidFill>
                  <a:schemeClr val="accent1">
                    <a:lumMod val="75000"/>
                  </a:schemeClr>
                </a:solidFill>
              </a:rPr>
              <a:t>SOC</a:t>
            </a:r>
            <a:r>
              <a:rPr lang="zh-CN" altLang="en-US" sz="2200" dirty="0">
                <a:solidFill>
                  <a:schemeClr val="accent1">
                    <a:lumMod val="75000"/>
                  </a:schemeClr>
                </a:solidFill>
              </a:rPr>
              <a:t>如下：</a:t>
            </a:r>
            <a:endParaRPr lang="en-US" altLang="zh-CN" sz="2200" dirty="0">
              <a:solidFill>
                <a:schemeClr val="accent1">
                  <a:lumMod val="75000"/>
                </a:schemeClr>
              </a:solidFill>
            </a:endParaRPr>
          </a:p>
          <a:p>
            <a:r>
              <a:rPr lang="en-US" altLang="zh-CN" sz="2200" dirty="0"/>
              <a:t>42 44 41 43 45 40 46 42 44 43 47 45 46 48 49 50 52 85 53 54 55 57 56 58 59 60 62 61 63 64 65 67 66 68 69 70 72 71 73 74 75 77 76 78 99 99 82 81 83 84 85 87 86 88 89 90 92 91 93 94 95 97 96 98 99 100 98 97 96 95 94 93 92 91 90 89 88 87 86 85 84 83  81 80 79 78 77 76 75 74 73 72 71 70 69 68 67 66 65 64</a:t>
            </a:r>
            <a:endParaRPr lang="en-US" altLang="zh-CN"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提交要求：</a:t>
            </a:r>
            <a:endParaRPr lang="en-US" altLang="zh-CN" dirty="0"/>
          </a:p>
          <a:p>
            <a:pPr>
              <a:buAutoNum type="arabicPeriod"/>
            </a:pPr>
            <a:r>
              <a:rPr lang="zh-CN" altLang="en-US" dirty="0"/>
              <a:t>实验报告：问题分析与建模、算法设计（</a:t>
            </a:r>
            <a:r>
              <a:rPr lang="en-US" altLang="zh-CN" dirty="0"/>
              <a:t>2</a:t>
            </a:r>
            <a:r>
              <a:rPr lang="zh-CN" altLang="en-US" dirty="0"/>
              <a:t>种以上的算法求解）、程序设计（</a:t>
            </a:r>
            <a:r>
              <a:rPr lang="en-US" altLang="zh-CN" dirty="0"/>
              <a:t> 2</a:t>
            </a:r>
            <a:r>
              <a:rPr lang="zh-CN" altLang="en-US" dirty="0"/>
              <a:t>种以上的算法代码）、算法（时空复杂度）分析及对比、实验结果及可视化、实验总结</a:t>
            </a:r>
            <a:endParaRPr lang="en-US" altLang="zh-CN" dirty="0"/>
          </a:p>
          <a:p>
            <a:pPr>
              <a:buAutoNum type="arabicPeriod"/>
            </a:pPr>
            <a:r>
              <a:rPr lang="zh-CN" altLang="en-US" dirty="0"/>
              <a:t>实验源码</a:t>
            </a:r>
            <a:endParaRPr lang="zh-CN" altLang="en-US" dirty="0"/>
          </a:p>
        </p:txBody>
      </p:sp>
      <p:sp>
        <p:nvSpPr>
          <p:cNvPr id="4" name="标题 2"/>
          <p:cNvSpPr>
            <a:spLocks noGrp="1"/>
          </p:cNvSpPr>
          <p:nvPr>
            <p:ph type="title"/>
          </p:nvPr>
        </p:nvSpPr>
        <p:spPr>
          <a:xfrm>
            <a:off x="177530" y="136525"/>
            <a:ext cx="11172460" cy="1325563"/>
          </a:xfrm>
        </p:spPr>
        <p:txBody>
          <a:bodyPr>
            <a:normAutofit/>
          </a:bodyPr>
          <a:lstStyle/>
          <a:p>
            <a:r>
              <a:rPr lang="zh-CN" altLang="en-US" sz="3200" dirty="0"/>
              <a:t>小组实验</a:t>
            </a:r>
            <a:r>
              <a:rPr lang="en-US" altLang="zh-CN" sz="3200" dirty="0"/>
              <a:t>2</a:t>
            </a:r>
            <a:r>
              <a:rPr lang="zh-CN" altLang="en-US" sz="3200" dirty="0"/>
              <a:t>：微电网储能荷电状态（</a:t>
            </a:r>
            <a:r>
              <a:rPr lang="en-US" altLang="zh-CN" sz="3200" dirty="0"/>
              <a:t>SOC</a:t>
            </a:r>
            <a:r>
              <a:rPr lang="zh-CN" altLang="en-US" sz="3200" dirty="0"/>
              <a:t>）安全区间校验</a:t>
            </a:r>
            <a:endParaRPr lang="zh-CN" altLang="en-US" sz="3200"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956</Words>
  <Application>WPS 演示</Application>
  <PresentationFormat>宽屏</PresentationFormat>
  <Paragraphs>25</Paragraphs>
  <Slides>3</Slides>
  <Notes>2</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vt:i4>
      </vt:variant>
    </vt:vector>
  </HeadingPairs>
  <TitlesOfParts>
    <vt:vector size="21" baseType="lpstr">
      <vt:lpstr>Arial</vt:lpstr>
      <vt:lpstr>宋体</vt:lpstr>
      <vt:lpstr>Wingdings</vt:lpstr>
      <vt:lpstr>黑体</vt:lpstr>
      <vt:lpstr>汉仪中黑KW</vt:lpstr>
      <vt:lpstr>等线</vt:lpstr>
      <vt:lpstr>汉仪中等线KW</vt:lpstr>
      <vt:lpstr>微软雅黑</vt:lpstr>
      <vt:lpstr>汉仪旗黑</vt:lpstr>
      <vt:lpstr>宋体</vt:lpstr>
      <vt:lpstr>Arial Unicode MS</vt:lpstr>
      <vt:lpstr>等线 Light</vt:lpstr>
      <vt:lpstr>Calibri</vt:lpstr>
      <vt:lpstr>Helvetica Neue</vt:lpstr>
      <vt:lpstr>汉仪书宋二KW</vt:lpstr>
      <vt:lpstr>黑体</vt:lpstr>
      <vt:lpstr>Office 主题​​</vt:lpstr>
      <vt:lpstr>1_Office 主题​​</vt:lpstr>
      <vt:lpstr>小组实验2：微电网储能荷电状态（SOC）安全区间校验</vt:lpstr>
      <vt:lpstr>小组实验2：微电网储能荷电状态（SOC）安全区间校验</vt:lpstr>
      <vt:lpstr>小组实验2：微电网储能荷电状态（SOC）安全区间校验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wynne zhang</dc:creator>
  <cp:lastModifiedBy>WPS_1747719755</cp:lastModifiedBy>
  <cp:revision>19</cp:revision>
  <dcterms:created xsi:type="dcterms:W3CDTF">2025-12-10T08:07:49Z</dcterms:created>
  <dcterms:modified xsi:type="dcterms:W3CDTF">2025-12-10T08:07:49Z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68C9841100BE2907552A396906954A78_42</vt:lpwstr>
  </property>
  <property fmtid="{D5CDD505-2E9C-101B-9397-08002B2CF9AE}" pid="3" name="KSOProductBuildVer">
    <vt:lpwstr>2052-12.1.23540.23540</vt:lpwstr>
  </property>
</Properties>
</file>