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966" r:id="rId3"/>
    <p:sldId id="968" r:id="rId4"/>
    <p:sldId id="96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594" autoAdjust="0"/>
  </p:normalViewPr>
  <p:slideViewPr>
    <p:cSldViewPr snapToGrid="0">
      <p:cViewPr varScale="1">
        <p:scale>
          <a:sx n="67" d="100"/>
          <a:sy n="67" d="100"/>
        </p:scale>
        <p:origin x="12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77D49-0352-4CBB-AC3B-29E61C6D4416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F2BAF-1314-4B8B-B883-E17236056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9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F2BAF-1314-4B8B-B883-E172360560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40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FBE2FB-48BA-BF48-50D3-184C3EFAF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6FAEA1-1A58-E24C-5BA2-F87D4F97C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87939-338B-230A-293C-F9E36114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911B96-CAC4-B574-1769-F13D48791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3CF980-0AAC-73DF-4B4D-42B40A8A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22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64D48-1F84-475A-2E12-58C6FE70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4EA4DF-94ED-5BFB-2BF1-A3DBB8306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0044A9-8CDC-73F0-8739-B2632272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CA825E-9BA7-AFE9-13A8-C568C1E5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A17281-168F-E6F6-BFB8-73A76283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44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FB64D-245A-8247-FEE7-C0AB693A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94E4EB-F7ED-20B3-12E2-EFE6F9E8B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E4B96-810D-A5C0-D234-5B2DB123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84EED-98A8-6903-0566-CCD778A3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CCFE9E-AE28-49EE-2E84-EDB68225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2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87C5A-975A-53FC-2DB4-C50F03F3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5EAFC-D83A-8D3A-90AB-A5E30B1D9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390D69-2A98-0305-EC84-9B9A4BB52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E6F7FE-E651-F932-B6A8-04F4FFB9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6475C-07A6-D94F-C5A9-382ADDD0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9D4E0B-D6DF-37A6-4681-8BAEB9D7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69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3DC1C-FC97-B84D-C055-8BC83576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BF04E8-080B-772A-C565-E646D7798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56BE8B-442E-543F-1522-D54C43DE1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359986-DBF2-872E-A8B8-B594D6ABE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580F37-5544-7233-61E9-2130EB6A5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7ED882-CF6D-6E40-32C2-BAB70D39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BF84D9-431D-B40F-2026-98524AB0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8891C3-9AA1-EF26-57DF-828A179A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03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F2EF2-1894-B580-E1EC-7559778B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580CCD2-2847-3B0B-7D20-8F818644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E2083B-3A73-B950-501C-0A1016F60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E51B46-693D-2831-C2A3-439C9418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18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4F7563-C886-A8CC-DEFD-9E5C9A01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50903A-765E-A742-6C7F-989D6F70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2BC53E-085C-3F4C-6660-F5B090A7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743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DD69D-66E9-BACB-3D22-4AA51970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499184-6EF1-84A2-B8C9-554AAF441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6C382B-3B8A-600A-B1A0-B230CD4E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B6732C-E3ED-668C-E4F4-ADB30A0F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B2A325-2815-4676-4BA3-7858C9F7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0B7DE-A293-AD95-3006-EDFF2585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400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F1EF4-4395-DD01-000D-62C0DD0E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A7B39C-2F1F-D114-E8F5-6B75714B4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D4A100-5FBF-CB14-CD2E-AE14C39B0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C06745-37FE-F631-7098-7B957D07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180808-66E4-AE0A-FFBE-E525B2C9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DC8973-302D-1C54-71BB-0B1DCCA4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85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C7794-5F90-83E8-AF00-CEA513BE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30FA2D-B020-E7CD-7A3D-CEDEDB5CD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66278-7355-3E56-487B-27DB816E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DD9B1-2702-3C3C-E780-30BD4CBE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E0258F-409D-5926-32E2-31EFE46F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7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2B1FE1-B6F0-9CE3-07A0-478619FC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813588-CD0F-D327-12C0-2E5AECA77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A553BA-282D-E3AA-2DBE-6F15BBC2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DE3E9-57EC-6DE7-B99B-14A036A72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D19AC2-1722-DB6A-9E93-81F45EF2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699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7DA84-E35D-4A62-A8E1-A4E55C3E7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1485"/>
            <a:ext cx="9144000" cy="1431861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624344-E839-4332-BE2D-78C1EA4FD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57257"/>
            <a:ext cx="9144000" cy="82788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1BE7A5-D1B4-4B61-9516-0F4AA14B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1D854-7100-4EE8-9D58-C0CA1483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BDC72-850E-4C2D-9D06-0EEC7A336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1C71CBC-D4AA-41E6-896D-F6A4D0BB4501}"/>
              </a:ext>
            </a:extLst>
          </p:cNvPr>
          <p:cNvGrpSpPr/>
          <p:nvPr userDrawn="1"/>
        </p:nvGrpSpPr>
        <p:grpSpPr>
          <a:xfrm>
            <a:off x="0" y="4185138"/>
            <a:ext cx="12192000" cy="2672862"/>
            <a:chOff x="952500" y="457200"/>
            <a:chExt cx="10287000" cy="594360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64FD938-56F3-48B4-A175-91170A0BDD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00" y="457200"/>
              <a:ext cx="10287000" cy="59436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F0E5922-4264-4C18-B4D1-911C4D899B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98305" y="1516063"/>
              <a:ext cx="1695450" cy="942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9724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82A19-BC11-459C-80AF-F209467E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0" y="136525"/>
            <a:ext cx="680774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A1F5B9-BF9C-44C0-937D-9E02DBB23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77" y="1604124"/>
            <a:ext cx="10515600" cy="4351338"/>
          </a:xfr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  <a:defRPr sz="24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685800" indent="-22860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defRPr sz="18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27DAF7-31CC-4E5F-A66C-D5C658E2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A95E7-F263-4727-901C-F54EC89F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66A9F-8BC9-453F-A75B-F4CB373B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5F782903-7CC9-4D93-8110-0445C3AC484C}"/>
              </a:ext>
            </a:extLst>
          </p:cNvPr>
          <p:cNvSpPr/>
          <p:nvPr userDrawn="1"/>
        </p:nvSpPr>
        <p:spPr>
          <a:xfrm>
            <a:off x="0" y="1371599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143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82A19-BC11-459C-80AF-F209467E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0" y="136525"/>
            <a:ext cx="680774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27DAF7-31CC-4E5F-A66C-D5C658E2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A95E7-F263-4727-901C-F54EC89F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66A9F-8BC9-453F-A75B-F4CB373B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5F782903-7CC9-4D93-8110-0445C3AC484C}"/>
              </a:ext>
            </a:extLst>
          </p:cNvPr>
          <p:cNvSpPr/>
          <p:nvPr userDrawn="1"/>
        </p:nvSpPr>
        <p:spPr>
          <a:xfrm>
            <a:off x="0" y="1371599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453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82A19-BC11-459C-80AF-F209467E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276" y="401653"/>
            <a:ext cx="680774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A1F5B9-BF9C-44C0-937D-9E02DBB23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0" y="2083776"/>
            <a:ext cx="7124699" cy="399477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2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defRPr sz="28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defRPr sz="24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27DAF7-31CC-4E5F-A66C-D5C658E2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A95E7-F263-4727-901C-F54EC89F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66A9F-8BC9-453F-A75B-F4CB373B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207142-4730-4D64-B328-DB5DD014DD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402623" cy="6858000"/>
          </a:xfrm>
          <a:prstGeom prst="rect">
            <a:avLst/>
          </a:prstGeom>
        </p:spPr>
      </p:pic>
      <p:sp>
        <p:nvSpPr>
          <p:cNvPr id="10" name="流程图: 过程 9">
            <a:extLst>
              <a:ext uri="{FF2B5EF4-FFF2-40B4-BE49-F238E27FC236}">
                <a16:creationId xmlns:a16="http://schemas.microsoft.com/office/drawing/2014/main" id="{17CB2F93-4360-4FAA-A070-4B514EA3339E}"/>
              </a:ext>
            </a:extLst>
          </p:cNvPr>
          <p:cNvSpPr/>
          <p:nvPr userDrawn="1"/>
        </p:nvSpPr>
        <p:spPr>
          <a:xfrm>
            <a:off x="3968479" y="1828146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145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82A19-BC11-459C-80AF-F209467E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0" y="136525"/>
            <a:ext cx="680774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A1F5B9-BF9C-44C0-937D-9E02DBB23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216"/>
            <a:ext cx="10515600" cy="4351338"/>
          </a:xfrm>
        </p:spPr>
        <p:txBody>
          <a:bodyPr/>
          <a:lstStyle>
            <a:lvl1pPr>
              <a:lnSpc>
                <a:spcPct val="150000"/>
              </a:lnSpc>
              <a:defRPr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defRPr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defRPr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27DAF7-31CC-4E5F-A66C-D5C658E2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A95E7-F263-4727-901C-F54EC89F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66A9F-8BC9-453F-A75B-F4CB373B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5F782903-7CC9-4D93-8110-0445C3AC484C}"/>
              </a:ext>
            </a:extLst>
          </p:cNvPr>
          <p:cNvSpPr/>
          <p:nvPr userDrawn="1"/>
        </p:nvSpPr>
        <p:spPr>
          <a:xfrm>
            <a:off x="0" y="1371599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459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DEC84-199A-4CC3-BD3E-FA6AC2CD2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24FA9E-F565-45D6-B80A-447963D4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ED2DE3-7BDF-461A-B715-F41C694DD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2523B7-7E3D-419D-821A-CFB6120B8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88C6C4-6AA5-44D6-AD8B-DCDFDE287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C70405-9882-4A95-A8B4-9409F6C2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F66658-7497-4B09-AA2A-3872C03A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B6D49A-8079-45FD-B7DB-4CEC7C92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646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5AAB5-78E4-4980-AC9F-8EB0EB1B0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D28ACA-CE61-440E-A833-96B29A1C1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AD1369-123E-4779-B5BC-76F3803B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B56E68-128F-4DE0-93F8-597DE462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75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3AB580-E8DE-405F-B29F-87AA7A7B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76700C-7AB7-4D55-BDB6-2C11A8D2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B43136-3E39-4939-8EF2-E226CA13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AC8C3BD9-22DD-4D68-9B29-CFE4669E7CD6}"/>
              </a:ext>
            </a:extLst>
          </p:cNvPr>
          <p:cNvSpPr/>
          <p:nvPr userDrawn="1"/>
        </p:nvSpPr>
        <p:spPr>
          <a:xfrm>
            <a:off x="0" y="1371599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1333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9C785-4209-46FC-8D48-622000E1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4ECB74-3B49-4098-B019-3903AE658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D87F91-3C5E-4A4D-A16C-0C8353480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DF7117-9D0E-47EA-88C4-213DD888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1AD96B-1A5E-4824-8F87-D6038D01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992182-80D2-4B95-96DD-6DE6C5DA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851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FE4C4-DD93-43C6-B01D-D21ABC0CF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2A54BC-819F-4E5D-9C2F-782F9FF66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70B36A-9309-40D8-9D95-F2452B5DD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7EB8AB-8986-4583-9A66-9A2C3ED7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612F3D-A958-4A0C-AF6E-109C0C05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F837CD-198F-40D9-B982-6C8F9BB1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4883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FAB08-512E-44D5-9E99-ACBECD11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BE75A9-6405-4B46-8C61-5B5FB5A16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4EB1BD-0A86-4DEB-92CD-814DF95B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1B7960-3CB5-49C2-ADC2-6C00F158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A982C8-BB33-4B89-928A-0016236D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691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C4E7A9-55B5-472F-837C-9B9DE98998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723589-7B89-4056-BDF8-FDBAC8D07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144DF5-B6DF-470A-A413-14AEC1D5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DFBFCE-2CF8-4F16-BCF6-E51DB84A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0470D1-B09C-4B10-9EE7-D5B9DAD6C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4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24F21D-EE3C-546A-0872-F107FA12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3D7198-71BA-A1FB-D3B9-F80D29E2C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21E7FC-2C88-41A1-939A-6C71DF6C8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31094-D888-4EB5-A01D-8EC40ED8B93D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3E60AD-D961-93FB-4D90-F01C2350E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3BEE8-8205-C993-630B-881AB018E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71780-F23A-4362-931F-B2A885650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53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C86FCC-ABE6-49B8-A9D7-A4CE6374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98F67D-2115-4919-B11D-C7EB01C28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5C7E15-B78A-4F03-8256-C7A9EFD65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926CA-4B1F-451B-AAA2-D63E747C62AF}" type="datetimeFigureOut">
              <a:rPr lang="zh-CN" altLang="en-US" smtClean="0"/>
              <a:t>2025-12-1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1D49B9-A251-4AEC-AF0F-ED00EC955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692D36-FF21-4A2D-99CF-91DD26D51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B89A3-59DB-45CE-8159-ED7DFCD91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99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657CC39-B4D9-032E-178E-DA3229ED8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0" y="136525"/>
            <a:ext cx="11538220" cy="1325563"/>
          </a:xfrm>
        </p:spPr>
        <p:txBody>
          <a:bodyPr/>
          <a:lstStyle/>
          <a:p>
            <a:r>
              <a:rPr lang="zh-CN" altLang="en-US" dirty="0"/>
              <a:t>小组实验</a:t>
            </a:r>
            <a:r>
              <a:rPr lang="en-US" altLang="zh-CN" dirty="0"/>
              <a:t>1</a:t>
            </a:r>
            <a:r>
              <a:rPr lang="zh-CN" altLang="en-US" dirty="0"/>
              <a:t>：储能电站的最优连续放电窗口选择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8BDA75-BD55-33E3-46A5-35C7F3894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94" y="1572226"/>
            <a:ext cx="11745786" cy="4931444"/>
          </a:xfrm>
        </p:spPr>
        <p:txBody>
          <a:bodyPr>
            <a:normAutofit/>
          </a:bodyPr>
          <a:lstStyle/>
          <a:p>
            <a:r>
              <a:rPr lang="zh-CN" altLang="en-US" sz="2200" dirty="0"/>
              <a:t>某省</a:t>
            </a:r>
            <a:r>
              <a:rPr lang="zh-CN" altLang="en-US" sz="2200" b="1" dirty="0">
                <a:solidFill>
                  <a:schemeClr val="accent1"/>
                </a:solidFill>
              </a:rPr>
              <a:t>电网侧储能电站参与日内调峰</a:t>
            </a:r>
            <a:r>
              <a:rPr lang="zh-CN" altLang="en-US" sz="2200" dirty="0"/>
              <a:t>。调度中心希望在一天中找到一段连续的时间窗口启动储能放电，以获得最大的净收益。储能电站每小时放电所带来的净收益（单位：万元）已由市场电价、放电效率、启动损耗等综合测算得到，正值表示放电盈利，负值表示放电亏损（例如电价低或损耗过大时放电会亏）。现在给出该电站 </a:t>
            </a:r>
            <a:r>
              <a:rPr lang="en-US" altLang="zh-CN" sz="2200" dirty="0"/>
              <a:t>1 </a:t>
            </a:r>
            <a:r>
              <a:rPr lang="zh-CN" altLang="en-US" sz="2200" dirty="0"/>
              <a:t>天 </a:t>
            </a:r>
            <a:r>
              <a:rPr lang="en-US" altLang="zh-CN" sz="2200" dirty="0"/>
              <a:t>24 </a:t>
            </a:r>
            <a:r>
              <a:rPr lang="zh-CN" altLang="en-US" sz="2200" dirty="0"/>
              <a:t>个小时对应的“每小时放电净收益”序列。</a:t>
            </a:r>
            <a:endParaRPr lang="en-US" altLang="zh-CN" sz="2200" dirty="0"/>
          </a:p>
          <a:p>
            <a:r>
              <a:rPr lang="zh-CN" altLang="en-US" sz="2200" dirty="0"/>
              <a:t>请选择可以获得最大净收益的放电区间，并计算该区间对应的最大累计净收益是多少。若决定不放电，则累计净收益为 </a:t>
            </a:r>
            <a:r>
              <a:rPr lang="en-US" altLang="zh-CN" sz="2200" dirty="0"/>
              <a:t>0</a:t>
            </a:r>
            <a:r>
              <a:rPr lang="zh-CN" altLang="en-US" sz="2200" dirty="0"/>
              <a:t>（但你需要判断是否存在比 </a:t>
            </a:r>
            <a:r>
              <a:rPr lang="en-US" altLang="zh-CN" sz="2200" dirty="0"/>
              <a:t>0 </a:t>
            </a:r>
            <a:r>
              <a:rPr lang="zh-CN" altLang="en-US" sz="2200" dirty="0"/>
              <a:t>更高的连续区间收益）。</a:t>
            </a:r>
            <a:endParaRPr lang="en-US" altLang="zh-CN" sz="2200" dirty="0"/>
          </a:p>
          <a:p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15455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FF8A37-FDEA-3F6D-DB32-67F0AC535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0" y="136525"/>
            <a:ext cx="10680970" cy="1325563"/>
          </a:xfrm>
        </p:spPr>
        <p:txBody>
          <a:bodyPr/>
          <a:lstStyle/>
          <a:p>
            <a:r>
              <a:rPr lang="zh-CN" altLang="en-US" dirty="0"/>
              <a:t>小组实验</a:t>
            </a:r>
            <a:r>
              <a:rPr lang="en-US" altLang="zh-CN" dirty="0"/>
              <a:t>1</a:t>
            </a:r>
            <a:r>
              <a:rPr lang="zh-CN" altLang="en-US" dirty="0"/>
              <a:t>：储能电站的最优连续放电窗口选择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0BA6C-3481-68D3-14F9-05A47E122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76" y="1604124"/>
            <a:ext cx="10874033" cy="4351338"/>
          </a:xfrm>
        </p:spPr>
        <p:txBody>
          <a:bodyPr>
            <a:normAutofit/>
          </a:bodyPr>
          <a:lstStyle/>
          <a:p>
            <a:r>
              <a:rPr lang="zh-CN" altLang="en-US" sz="2200" b="1" dirty="0"/>
              <a:t>已知数据（每小时放电净收益，单位：万元）：</a:t>
            </a:r>
            <a:r>
              <a:rPr lang="zh-CN" altLang="en-US" sz="2200" dirty="0"/>
              <a:t>按 </a:t>
            </a:r>
            <a:r>
              <a:rPr lang="en-US" altLang="zh-CN" sz="2200" dirty="0"/>
              <a:t>0:00–1:00, 1:00–2:00, …, 23:00–24:00 </a:t>
            </a:r>
            <a:r>
              <a:rPr lang="zh-CN" altLang="en-US" sz="2200" dirty="0"/>
              <a:t>顺序：</a:t>
            </a:r>
          </a:p>
          <a:p>
            <a:endParaRPr lang="zh-CN" altLang="en-US" sz="22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C3937F0-07DC-FD4A-F43A-D87B57D03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688963"/>
              </p:ext>
            </p:extLst>
          </p:nvPr>
        </p:nvGraphicFramePr>
        <p:xfrm>
          <a:off x="1154723" y="2942624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3565293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5271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078504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511217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953574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2363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677498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87860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小时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净收益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小时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净收益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小时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净收益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小时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净收益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144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96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9987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917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14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412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757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32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D7250B-B0A4-1261-CFDC-B9D5868DF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提交要求：</a:t>
            </a:r>
            <a:endParaRPr lang="en-US" altLang="zh-CN" dirty="0"/>
          </a:p>
          <a:p>
            <a:pPr>
              <a:buAutoNum type="arabicPeriod"/>
            </a:pPr>
            <a:r>
              <a:rPr lang="zh-CN" altLang="en-US" dirty="0"/>
              <a:t>实验报告：问题分析与建模、算法设计（</a:t>
            </a:r>
            <a:r>
              <a:rPr lang="en-US" altLang="zh-CN" dirty="0"/>
              <a:t>2</a:t>
            </a:r>
            <a:r>
              <a:rPr lang="zh-CN" altLang="en-US" dirty="0"/>
              <a:t>种以上的算法求解）、程序设计（</a:t>
            </a:r>
            <a:r>
              <a:rPr lang="en-US" altLang="zh-CN" dirty="0"/>
              <a:t> 2</a:t>
            </a:r>
            <a:r>
              <a:rPr lang="zh-CN" altLang="en-US" dirty="0"/>
              <a:t>种以上的算法代码）、算法（时空复杂度）分析及对比、实验结果及可视化、实验总结</a:t>
            </a:r>
            <a:endParaRPr lang="en-US" altLang="zh-CN" dirty="0"/>
          </a:p>
          <a:p>
            <a:pPr>
              <a:buAutoNum type="arabicPeriod"/>
            </a:pPr>
            <a:r>
              <a:rPr lang="zh-CN" altLang="en-US" dirty="0"/>
              <a:t>实验源码</a:t>
            </a: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F74911E6-42E5-D21D-3F68-84DF92A3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0" y="136525"/>
            <a:ext cx="11172460" cy="1325563"/>
          </a:xfrm>
        </p:spPr>
        <p:txBody>
          <a:bodyPr/>
          <a:lstStyle/>
          <a:p>
            <a:r>
              <a:rPr lang="zh-CN" altLang="en-US" dirty="0"/>
              <a:t>小组实验</a:t>
            </a:r>
            <a:r>
              <a:rPr lang="en-US" altLang="zh-CN" dirty="0"/>
              <a:t>1</a:t>
            </a:r>
            <a:r>
              <a:rPr lang="zh-CN" altLang="en-US" dirty="0"/>
              <a:t>：储能电站的最优连续放电窗口选择</a:t>
            </a:r>
          </a:p>
        </p:txBody>
      </p:sp>
    </p:spTree>
    <p:extLst>
      <p:ext uri="{BB962C8B-B14F-4D97-AF65-F5344CB8AC3E}">
        <p14:creationId xmlns:p14="http://schemas.microsoft.com/office/powerpoint/2010/main" val="3878804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323</Words>
  <Application>Microsoft Office PowerPoint</Application>
  <PresentationFormat>宽屏</PresentationFormat>
  <Paragraphs>66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黑体</vt:lpstr>
      <vt:lpstr>Arial</vt:lpstr>
      <vt:lpstr>Wingdings</vt:lpstr>
      <vt:lpstr>Office 主题​​</vt:lpstr>
      <vt:lpstr>1_Office 主题​​</vt:lpstr>
      <vt:lpstr>小组实验1：储能电站的最优连续放电窗口选择</vt:lpstr>
      <vt:lpstr>小组实验1：储能电站的最优连续放电窗口选择</vt:lpstr>
      <vt:lpstr>小组实验1：储能电站的最优连续放电窗口选择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wynne zhang</dc:creator>
  <cp:lastModifiedBy>wynne zhang</cp:lastModifiedBy>
  <cp:revision>12</cp:revision>
  <dcterms:created xsi:type="dcterms:W3CDTF">2025-11-27T02:39:26Z</dcterms:created>
  <dcterms:modified xsi:type="dcterms:W3CDTF">2025-12-01T05:27:09Z</dcterms:modified>
</cp:coreProperties>
</file>